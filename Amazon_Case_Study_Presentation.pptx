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>
      <p:cViewPr varScale="1">
        <p:scale>
          <a:sx n="59" d="100"/>
          <a:sy n="59" d="100"/>
        </p:scale>
        <p:origin x="100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02994" y="160096"/>
            <a:ext cx="8260080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6693" y="-13004"/>
            <a:ext cx="10253980" cy="13282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244" y="1804797"/>
            <a:ext cx="10365105" cy="4049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image" Target="../media/image17.jpg"/><Relationship Id="rId7" Type="http://schemas.openxmlformats.org/officeDocument/2006/relationships/image" Target="../media/image21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10" Type="http://schemas.openxmlformats.org/officeDocument/2006/relationships/image" Target="../media/image24.jpg"/><Relationship Id="rId4" Type="http://schemas.openxmlformats.org/officeDocument/2006/relationships/image" Target="../media/image18.jpg"/><Relationship Id="rId9" Type="http://schemas.openxmlformats.org/officeDocument/2006/relationships/image" Target="../media/image2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mazon logo png, amazon icon ...">
            <a:extLst>
              <a:ext uri="{FF2B5EF4-FFF2-40B4-BE49-F238E27FC236}">
                <a16:creationId xmlns:a16="http://schemas.microsoft.com/office/drawing/2014/main" id="{C7235E84-875E-90FA-98BD-F9EF17A02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94195"/>
            <a:ext cx="3219450" cy="141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70DA867-27DC-937F-8864-147684614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590800"/>
            <a:ext cx="12192000" cy="2954655"/>
          </a:xfrm>
        </p:spPr>
        <p:txBody>
          <a:bodyPr/>
          <a:lstStyle/>
          <a:p>
            <a:r>
              <a:rPr lang="en-US" sz="3200" b="1" dirty="0"/>
              <a:t> Amazon Sales Data Case Study Presentation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                                  Presented By – Satyam Singh Tomar 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765704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3525" y="610057"/>
            <a:ext cx="912939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22370" algn="l"/>
              </a:tabLst>
            </a:pPr>
            <a:r>
              <a:rPr sz="4400" spc="260" dirty="0">
                <a:latin typeface="Cambria"/>
                <a:cs typeface="Cambria"/>
              </a:rPr>
              <a:t>Overview</a:t>
            </a:r>
            <a:r>
              <a:rPr sz="4400" spc="220" dirty="0">
                <a:latin typeface="Cambria"/>
                <a:cs typeface="Cambria"/>
              </a:rPr>
              <a:t> </a:t>
            </a:r>
            <a:r>
              <a:rPr sz="4400" spc="645" dirty="0">
                <a:latin typeface="Cambria"/>
                <a:cs typeface="Cambria"/>
              </a:rPr>
              <a:t>Of</a:t>
            </a:r>
            <a:r>
              <a:rPr sz="4400" dirty="0">
                <a:latin typeface="Cambria"/>
                <a:cs typeface="Cambria"/>
              </a:rPr>
              <a:t>	</a:t>
            </a:r>
            <a:r>
              <a:rPr sz="4400" spc="380" dirty="0">
                <a:latin typeface="Cambria"/>
                <a:cs typeface="Cambria"/>
              </a:rPr>
              <a:t>Amazon</a:t>
            </a:r>
            <a:r>
              <a:rPr sz="4400" spc="204" dirty="0">
                <a:latin typeface="Cambria"/>
                <a:cs typeface="Cambria"/>
              </a:rPr>
              <a:t> </a:t>
            </a:r>
            <a:r>
              <a:rPr sz="4400" spc="390" dirty="0">
                <a:latin typeface="Cambria"/>
                <a:cs typeface="Cambria"/>
              </a:rPr>
              <a:t>Sales</a:t>
            </a:r>
            <a:r>
              <a:rPr sz="4400" spc="150" dirty="0">
                <a:latin typeface="Cambria"/>
                <a:cs typeface="Cambria"/>
              </a:rPr>
              <a:t> </a:t>
            </a:r>
            <a:r>
              <a:rPr sz="4400" spc="525" dirty="0">
                <a:latin typeface="Cambria"/>
                <a:cs typeface="Cambria"/>
              </a:rPr>
              <a:t>Data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0029" marR="7620" indent="-227329" algn="just">
              <a:lnSpc>
                <a:spcPct val="900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spc="415" dirty="0"/>
              <a:t> </a:t>
            </a:r>
            <a:r>
              <a:rPr dirty="0"/>
              <a:t>data</a:t>
            </a:r>
            <a:r>
              <a:rPr spc="415" dirty="0"/>
              <a:t> </a:t>
            </a:r>
            <a:r>
              <a:rPr dirty="0"/>
              <a:t>consists</a:t>
            </a:r>
            <a:r>
              <a:rPr spc="405" dirty="0"/>
              <a:t> </a:t>
            </a:r>
            <a:r>
              <a:rPr dirty="0"/>
              <a:t>of</a:t>
            </a:r>
            <a:r>
              <a:rPr spc="395" dirty="0"/>
              <a:t> </a:t>
            </a:r>
            <a:r>
              <a:rPr dirty="0"/>
              <a:t>sales</a:t>
            </a:r>
            <a:r>
              <a:rPr spc="430" dirty="0"/>
              <a:t> </a:t>
            </a:r>
            <a:r>
              <a:rPr dirty="0"/>
              <a:t>record</a:t>
            </a:r>
            <a:r>
              <a:rPr spc="430" dirty="0"/>
              <a:t> </a:t>
            </a:r>
            <a:r>
              <a:rPr dirty="0"/>
              <a:t>of</a:t>
            </a:r>
            <a:r>
              <a:rPr spc="390" dirty="0"/>
              <a:t> </a:t>
            </a:r>
            <a:r>
              <a:rPr dirty="0"/>
              <a:t>three</a:t>
            </a:r>
            <a:r>
              <a:rPr spc="415" dirty="0"/>
              <a:t> </a:t>
            </a:r>
            <a:r>
              <a:rPr dirty="0"/>
              <a:t>cities/branch</a:t>
            </a:r>
            <a:r>
              <a:rPr spc="440" dirty="0"/>
              <a:t> </a:t>
            </a:r>
            <a:r>
              <a:rPr dirty="0"/>
              <a:t>in</a:t>
            </a:r>
            <a:r>
              <a:rPr spc="425" dirty="0"/>
              <a:t> </a:t>
            </a:r>
            <a:r>
              <a:rPr spc="-10" dirty="0"/>
              <a:t>Myanmar 	</a:t>
            </a:r>
            <a:r>
              <a:rPr dirty="0"/>
              <a:t>which</a:t>
            </a:r>
            <a:r>
              <a:rPr spc="484" dirty="0"/>
              <a:t> </a:t>
            </a:r>
            <a:r>
              <a:rPr dirty="0"/>
              <a:t>are</a:t>
            </a:r>
            <a:r>
              <a:rPr spc="505" dirty="0"/>
              <a:t> </a:t>
            </a:r>
            <a:r>
              <a:rPr dirty="0"/>
              <a:t>Naypyitaw,</a:t>
            </a:r>
            <a:r>
              <a:rPr spc="530" dirty="0"/>
              <a:t> </a:t>
            </a:r>
            <a:r>
              <a:rPr dirty="0"/>
              <a:t>Yangon,</a:t>
            </a:r>
            <a:r>
              <a:rPr spc="484" dirty="0"/>
              <a:t> </a:t>
            </a:r>
            <a:r>
              <a:rPr dirty="0"/>
              <a:t>Mandalay</a:t>
            </a:r>
            <a:r>
              <a:rPr spc="495" dirty="0"/>
              <a:t> </a:t>
            </a:r>
            <a:r>
              <a:rPr dirty="0"/>
              <a:t>which</a:t>
            </a:r>
            <a:r>
              <a:rPr spc="520" dirty="0"/>
              <a:t> </a:t>
            </a:r>
            <a:r>
              <a:rPr dirty="0"/>
              <a:t>took</a:t>
            </a:r>
            <a:r>
              <a:rPr spc="495" dirty="0"/>
              <a:t> </a:t>
            </a:r>
            <a:r>
              <a:rPr dirty="0"/>
              <a:t>place</a:t>
            </a:r>
            <a:r>
              <a:rPr spc="484" dirty="0"/>
              <a:t> </a:t>
            </a:r>
            <a:r>
              <a:rPr dirty="0"/>
              <a:t>in</a:t>
            </a:r>
            <a:r>
              <a:rPr spc="520" dirty="0"/>
              <a:t> </a:t>
            </a:r>
            <a:r>
              <a:rPr spc="-10" dirty="0"/>
              <a:t>first 	</a:t>
            </a:r>
            <a:r>
              <a:rPr dirty="0"/>
              <a:t>quarter</a:t>
            </a:r>
            <a:r>
              <a:rPr spc="-75" dirty="0"/>
              <a:t> </a:t>
            </a:r>
            <a:r>
              <a:rPr dirty="0"/>
              <a:t>of year</a:t>
            </a:r>
            <a:r>
              <a:rPr spc="25" dirty="0"/>
              <a:t> </a:t>
            </a:r>
            <a:r>
              <a:rPr dirty="0"/>
              <a:t>2019</a:t>
            </a:r>
            <a:r>
              <a:rPr spc="-65" dirty="0"/>
              <a:t> </a:t>
            </a:r>
            <a:r>
              <a:rPr dirty="0"/>
              <a:t>.</a:t>
            </a:r>
            <a:r>
              <a:rPr spc="-60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consists of</a:t>
            </a:r>
            <a:r>
              <a:rPr spc="-80" dirty="0"/>
              <a:t> </a:t>
            </a:r>
            <a:r>
              <a:rPr dirty="0"/>
              <a:t>1000</a:t>
            </a:r>
            <a:r>
              <a:rPr spc="-35" dirty="0"/>
              <a:t> </a:t>
            </a:r>
            <a:r>
              <a:rPr dirty="0"/>
              <a:t>rows</a:t>
            </a:r>
            <a:r>
              <a:rPr spc="-1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17</a:t>
            </a:r>
            <a:r>
              <a:rPr spc="-15" dirty="0"/>
              <a:t> </a:t>
            </a:r>
            <a:r>
              <a:rPr spc="-10" dirty="0"/>
              <a:t>columns.</a:t>
            </a:r>
          </a:p>
          <a:p>
            <a:pPr>
              <a:lnSpc>
                <a:spcPct val="100000"/>
              </a:lnSpc>
              <a:spcBef>
                <a:spcPts val="325"/>
              </a:spcBef>
              <a:buFont typeface="Arial MT"/>
              <a:buChar char="•"/>
            </a:pPr>
            <a:endParaRPr spc="-10" dirty="0"/>
          </a:p>
          <a:p>
            <a:pPr marR="1905" algn="ctr">
              <a:lnSpc>
                <a:spcPct val="100000"/>
              </a:lnSpc>
              <a:spcBef>
                <a:spcPts val="5"/>
              </a:spcBef>
            </a:pPr>
            <a:r>
              <a:rPr sz="4400" spc="320" dirty="0">
                <a:latin typeface="Cambria"/>
                <a:cs typeface="Cambria"/>
              </a:rPr>
              <a:t>Objective</a:t>
            </a:r>
            <a:r>
              <a:rPr sz="4400" spc="185" dirty="0">
                <a:latin typeface="Cambria"/>
                <a:cs typeface="Cambria"/>
              </a:rPr>
              <a:t> </a:t>
            </a:r>
            <a:r>
              <a:rPr sz="4400" spc="200" dirty="0">
                <a:latin typeface="Cambria"/>
                <a:cs typeface="Cambria"/>
              </a:rPr>
              <a:t>of</a:t>
            </a:r>
            <a:r>
              <a:rPr sz="4400" spc="160" dirty="0">
                <a:latin typeface="Cambria"/>
                <a:cs typeface="Cambria"/>
              </a:rPr>
              <a:t> </a:t>
            </a:r>
            <a:r>
              <a:rPr sz="4400" spc="360" dirty="0">
                <a:latin typeface="Cambria"/>
                <a:cs typeface="Cambria"/>
              </a:rPr>
              <a:t>Project</a:t>
            </a:r>
            <a:endParaRPr sz="4400">
              <a:latin typeface="Cambria"/>
              <a:cs typeface="Cambria"/>
            </a:endParaRPr>
          </a:p>
          <a:p>
            <a:pPr marL="240029" marR="5080" indent="-227329" algn="just">
              <a:lnSpc>
                <a:spcPct val="90000"/>
              </a:lnSpc>
              <a:spcBef>
                <a:spcPts val="43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rgbClr val="002146"/>
                </a:solidFill>
              </a:rPr>
              <a:t>The</a:t>
            </a:r>
            <a:r>
              <a:rPr spc="265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major</a:t>
            </a:r>
            <a:r>
              <a:rPr spc="260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aim</a:t>
            </a:r>
            <a:r>
              <a:rPr spc="215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of</a:t>
            </a:r>
            <a:r>
              <a:rPr spc="254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this</a:t>
            </a:r>
            <a:r>
              <a:rPr spc="250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project</a:t>
            </a:r>
            <a:r>
              <a:rPr spc="254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is</a:t>
            </a:r>
            <a:r>
              <a:rPr spc="250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to</a:t>
            </a:r>
            <a:r>
              <a:rPr spc="270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gain</a:t>
            </a:r>
            <a:r>
              <a:rPr spc="250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insight</a:t>
            </a:r>
            <a:r>
              <a:rPr spc="250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into</a:t>
            </a:r>
            <a:r>
              <a:rPr spc="245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the</a:t>
            </a:r>
            <a:r>
              <a:rPr spc="240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sales</a:t>
            </a:r>
            <a:r>
              <a:rPr spc="250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data</a:t>
            </a:r>
            <a:r>
              <a:rPr spc="250" dirty="0">
                <a:solidFill>
                  <a:srgbClr val="002146"/>
                </a:solidFill>
              </a:rPr>
              <a:t> </a:t>
            </a:r>
            <a:r>
              <a:rPr spc="-25" dirty="0">
                <a:solidFill>
                  <a:srgbClr val="002146"/>
                </a:solidFill>
              </a:rPr>
              <a:t>of 	</a:t>
            </a:r>
            <a:r>
              <a:rPr dirty="0">
                <a:solidFill>
                  <a:srgbClr val="002146"/>
                </a:solidFill>
              </a:rPr>
              <a:t>Amazon</a:t>
            </a:r>
            <a:r>
              <a:rPr spc="590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to</a:t>
            </a:r>
            <a:r>
              <a:rPr spc="585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understand</a:t>
            </a:r>
            <a:r>
              <a:rPr spc="580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the</a:t>
            </a:r>
            <a:r>
              <a:rPr spc="575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different</a:t>
            </a:r>
            <a:r>
              <a:rPr spc="595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factors</a:t>
            </a:r>
            <a:r>
              <a:rPr spc="575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that</a:t>
            </a:r>
            <a:r>
              <a:rPr spc="590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affect</a:t>
            </a:r>
            <a:r>
              <a:rPr spc="590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sales</a:t>
            </a:r>
            <a:r>
              <a:rPr spc="560" dirty="0">
                <a:solidFill>
                  <a:srgbClr val="002146"/>
                </a:solidFill>
              </a:rPr>
              <a:t> </a:t>
            </a:r>
            <a:r>
              <a:rPr dirty="0">
                <a:solidFill>
                  <a:srgbClr val="002146"/>
                </a:solidFill>
              </a:rPr>
              <a:t>of</a:t>
            </a:r>
            <a:r>
              <a:rPr spc="580" dirty="0">
                <a:solidFill>
                  <a:srgbClr val="002146"/>
                </a:solidFill>
              </a:rPr>
              <a:t> </a:t>
            </a:r>
            <a:r>
              <a:rPr spc="-25" dirty="0">
                <a:solidFill>
                  <a:srgbClr val="002146"/>
                </a:solidFill>
              </a:rPr>
              <a:t>the 	</a:t>
            </a:r>
            <a:r>
              <a:rPr dirty="0">
                <a:solidFill>
                  <a:srgbClr val="002146"/>
                </a:solidFill>
              </a:rPr>
              <a:t>different</a:t>
            </a:r>
            <a:r>
              <a:rPr spc="-45" dirty="0">
                <a:solidFill>
                  <a:srgbClr val="002146"/>
                </a:solidFill>
              </a:rPr>
              <a:t> </a:t>
            </a:r>
            <a:r>
              <a:rPr spc="-10" dirty="0">
                <a:solidFill>
                  <a:srgbClr val="002146"/>
                </a:solidFill>
              </a:rPr>
              <a:t>branches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7138" y="17729"/>
            <a:ext cx="769810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280" dirty="0">
                <a:latin typeface="Cambria"/>
                <a:cs typeface="Cambria"/>
              </a:rPr>
              <a:t>Preview</a:t>
            </a:r>
            <a:r>
              <a:rPr sz="4000" spc="75" dirty="0">
                <a:latin typeface="Cambria"/>
                <a:cs typeface="Cambria"/>
              </a:rPr>
              <a:t> </a:t>
            </a:r>
            <a:r>
              <a:rPr sz="4000" spc="180" dirty="0">
                <a:latin typeface="Cambria"/>
                <a:cs typeface="Cambria"/>
              </a:rPr>
              <a:t>of</a:t>
            </a:r>
            <a:r>
              <a:rPr sz="4000" spc="105" dirty="0">
                <a:latin typeface="Cambria"/>
                <a:cs typeface="Cambria"/>
              </a:rPr>
              <a:t> </a:t>
            </a:r>
            <a:r>
              <a:rPr sz="4000" spc="370" dirty="0">
                <a:latin typeface="Cambria"/>
                <a:cs typeface="Cambria"/>
              </a:rPr>
              <a:t>Amazon</a:t>
            </a:r>
            <a:r>
              <a:rPr sz="4000" spc="90" dirty="0">
                <a:latin typeface="Cambria"/>
                <a:cs typeface="Cambria"/>
              </a:rPr>
              <a:t> </a:t>
            </a:r>
            <a:r>
              <a:rPr sz="4000" spc="355" dirty="0">
                <a:latin typeface="Cambria"/>
                <a:cs typeface="Cambria"/>
              </a:rPr>
              <a:t>Sales</a:t>
            </a:r>
            <a:r>
              <a:rPr sz="4000" spc="95" dirty="0">
                <a:latin typeface="Cambria"/>
                <a:cs typeface="Cambria"/>
              </a:rPr>
              <a:t> </a:t>
            </a:r>
            <a:r>
              <a:rPr sz="4000" spc="484" dirty="0">
                <a:latin typeface="Cambria"/>
                <a:cs typeface="Cambria"/>
              </a:rPr>
              <a:t>Data</a:t>
            </a:r>
            <a:endParaRPr sz="4000">
              <a:latin typeface="Cambria"/>
              <a:cs typeface="Cambr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146" y="716026"/>
          <a:ext cx="10350499" cy="6067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6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4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0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Column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3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Type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Invoice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Id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Invoice</a:t>
                      </a:r>
                      <a:r>
                        <a:rPr sz="13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sales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made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Varchar(30)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Branch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Branch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which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sales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were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made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Varchar(5)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City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location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branch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Varchar(30)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Customer</a:t>
                      </a:r>
                      <a:r>
                        <a:rPr sz="13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Type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type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customer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Varchar(30)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Gender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Gender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customer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making</a:t>
                      </a:r>
                      <a:r>
                        <a:rPr sz="13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purchase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Varchar(10)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Product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Line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Product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line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product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sold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Varchar(100)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Unit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Price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price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product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Decimal(10,2)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Quantity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amount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product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sold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Int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VAT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amount of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tax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purchase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Float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Total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purchase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Decimal(10,2)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Date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date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which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purchase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made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Date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Time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3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which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purchase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made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Time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Payment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Method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amount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paid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Varchar(15)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Cogs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Goods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sold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Decimal(10,2)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Gross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Margin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Percentage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Gross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margin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percentage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Float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Gross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Income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Gross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Income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Decimal(10,2)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Rating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Rating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Decimal(3,1)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4544" y="57353"/>
            <a:ext cx="450532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545" dirty="0">
                <a:latin typeface="Cambria"/>
                <a:cs typeface="Cambria"/>
              </a:rPr>
              <a:t>Data</a:t>
            </a:r>
            <a:r>
              <a:rPr sz="4400" spc="155" dirty="0">
                <a:latin typeface="Cambria"/>
                <a:cs typeface="Cambria"/>
              </a:rPr>
              <a:t> </a:t>
            </a:r>
            <a:r>
              <a:rPr sz="4400" spc="365" dirty="0">
                <a:latin typeface="Cambria"/>
                <a:cs typeface="Cambria"/>
              </a:rPr>
              <a:t>Wrangling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6700" y="938910"/>
            <a:ext cx="6870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Step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[1]: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Created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database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named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Amazon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MySQL.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6700" y="2762503"/>
            <a:ext cx="965009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latin typeface="Times New Roman"/>
                <a:cs typeface="Times New Roman"/>
              </a:rPr>
              <a:t>Step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[2]:</a:t>
            </a:r>
            <a:r>
              <a:rPr sz="2400" spc="3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Importing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form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3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demo</a:t>
            </a:r>
            <a:r>
              <a:rPr sz="2400" spc="3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named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Amazon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using </a:t>
            </a:r>
            <a:r>
              <a:rPr sz="2400" dirty="0">
                <a:latin typeface="Times New Roman"/>
                <a:cs typeface="Times New Roman"/>
              </a:rPr>
              <a:t>table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import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wizard.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8360" y="1374647"/>
            <a:ext cx="5961888" cy="79857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18360" y="3523488"/>
            <a:ext cx="3142488" cy="136550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61888" y="3526535"/>
            <a:ext cx="2636519" cy="11430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7655" y="5026150"/>
            <a:ext cx="9805416" cy="17495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8217" y="373972"/>
            <a:ext cx="9850120" cy="144716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509"/>
              </a:spcBef>
            </a:pPr>
            <a:r>
              <a:rPr sz="2400" dirty="0">
                <a:latin typeface="Times New Roman"/>
                <a:cs typeface="Times New Roman"/>
              </a:rPr>
              <a:t>Step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[3]: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Checking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null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datatypes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columns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demo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amazon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table.</a:t>
            </a:r>
            <a:endParaRPr sz="2400">
              <a:latin typeface="Times New Roman"/>
              <a:cs typeface="Times New Roman"/>
            </a:endParaRPr>
          </a:p>
          <a:p>
            <a:pPr marL="12700" marR="5080" algn="just">
              <a:lnSpc>
                <a:spcPts val="2310"/>
              </a:lnSpc>
              <a:spcBef>
                <a:spcPts val="965"/>
              </a:spcBef>
            </a:pPr>
            <a:r>
              <a:rPr sz="2400" dirty="0">
                <a:solidFill>
                  <a:srgbClr val="7E7E7E"/>
                </a:solidFill>
                <a:latin typeface="Times New Roman"/>
                <a:cs typeface="Times New Roman"/>
              </a:rPr>
              <a:t>Note:</a:t>
            </a:r>
            <a:r>
              <a:rPr sz="2400" spc="36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E7E7E"/>
                </a:solidFill>
                <a:latin typeface="Times New Roman"/>
                <a:cs typeface="Times New Roman"/>
              </a:rPr>
              <a:t>as</a:t>
            </a:r>
            <a:r>
              <a:rPr sz="2400" spc="37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E7E7E"/>
                </a:solidFill>
                <a:latin typeface="Times New Roman"/>
                <a:cs typeface="Times New Roman"/>
              </a:rPr>
              <a:t>observe</a:t>
            </a:r>
            <a:r>
              <a:rPr sz="2400" spc="36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E7E7E"/>
                </a:solidFill>
                <a:latin typeface="Times New Roman"/>
                <a:cs typeface="Times New Roman"/>
              </a:rPr>
              <a:t>the</a:t>
            </a:r>
            <a:r>
              <a:rPr sz="2400" spc="36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E7E7E"/>
                </a:solidFill>
                <a:latin typeface="Times New Roman"/>
                <a:cs typeface="Times New Roman"/>
              </a:rPr>
              <a:t>datatype</a:t>
            </a:r>
            <a:r>
              <a:rPr sz="2400" spc="37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E7E7E"/>
                </a:solidFill>
                <a:latin typeface="Times New Roman"/>
                <a:cs typeface="Times New Roman"/>
              </a:rPr>
              <a:t>are</a:t>
            </a:r>
            <a:r>
              <a:rPr sz="2400" spc="35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E7E7E"/>
                </a:solidFill>
                <a:latin typeface="Times New Roman"/>
                <a:cs typeface="Times New Roman"/>
              </a:rPr>
              <a:t>incorrect</a:t>
            </a:r>
            <a:r>
              <a:rPr sz="2400" spc="409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E7E7E"/>
                </a:solidFill>
                <a:latin typeface="Times New Roman"/>
                <a:cs typeface="Times New Roman"/>
              </a:rPr>
              <a:t>and</a:t>
            </a:r>
            <a:r>
              <a:rPr sz="2400" spc="39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E7E7E"/>
                </a:solidFill>
                <a:latin typeface="Times New Roman"/>
                <a:cs typeface="Times New Roman"/>
              </a:rPr>
              <a:t>column</a:t>
            </a:r>
            <a:r>
              <a:rPr sz="2400" spc="37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E7E7E"/>
                </a:solidFill>
                <a:latin typeface="Times New Roman"/>
                <a:cs typeface="Times New Roman"/>
              </a:rPr>
              <a:t>names</a:t>
            </a:r>
            <a:r>
              <a:rPr sz="2400" spc="37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E7E7E"/>
                </a:solidFill>
                <a:latin typeface="Times New Roman"/>
                <a:cs typeface="Times New Roman"/>
              </a:rPr>
              <a:t>contain</a:t>
            </a:r>
            <a:r>
              <a:rPr sz="2400" spc="40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Times New Roman"/>
                <a:cs typeface="Times New Roman"/>
              </a:rPr>
              <a:t>space </a:t>
            </a:r>
            <a:r>
              <a:rPr sz="2400" dirty="0">
                <a:solidFill>
                  <a:srgbClr val="7E7E7E"/>
                </a:solidFill>
                <a:latin typeface="Times New Roman"/>
                <a:cs typeface="Times New Roman"/>
              </a:rPr>
              <a:t>which</a:t>
            </a:r>
            <a:r>
              <a:rPr sz="2400" spc="8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E7E7E"/>
                </a:solidFill>
                <a:latin typeface="Times New Roman"/>
                <a:cs typeface="Times New Roman"/>
              </a:rPr>
              <a:t>is</a:t>
            </a:r>
            <a:r>
              <a:rPr sz="2400" spc="10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E7E7E"/>
                </a:solidFill>
                <a:latin typeface="Times New Roman"/>
                <a:cs typeface="Times New Roman"/>
              </a:rPr>
              <a:t>syntactically</a:t>
            </a:r>
            <a:r>
              <a:rPr sz="2400" spc="5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E7E7E"/>
                </a:solidFill>
                <a:latin typeface="Times New Roman"/>
                <a:cs typeface="Times New Roman"/>
              </a:rPr>
              <a:t>incorrect,</a:t>
            </a:r>
            <a:r>
              <a:rPr sz="2400" spc="10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E7E7E"/>
                </a:solidFill>
                <a:latin typeface="Times New Roman"/>
                <a:cs typeface="Times New Roman"/>
              </a:rPr>
              <a:t>also</a:t>
            </a:r>
            <a:r>
              <a:rPr sz="2400" spc="10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E7E7E"/>
                </a:solidFill>
                <a:latin typeface="Times New Roman"/>
                <a:cs typeface="Times New Roman"/>
              </a:rPr>
              <a:t>table</a:t>
            </a:r>
            <a:r>
              <a:rPr sz="2400" spc="9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E7E7E"/>
                </a:solidFill>
                <a:latin typeface="Times New Roman"/>
                <a:cs typeface="Times New Roman"/>
              </a:rPr>
              <a:t>has</a:t>
            </a:r>
            <a:r>
              <a:rPr sz="2400" spc="10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E7E7E"/>
                </a:solidFill>
                <a:latin typeface="Times New Roman"/>
                <a:cs typeface="Times New Roman"/>
              </a:rPr>
              <a:t>no</a:t>
            </a:r>
            <a:r>
              <a:rPr sz="2400" spc="6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E7E7E"/>
                </a:solidFill>
                <a:latin typeface="Times New Roman"/>
                <a:cs typeface="Times New Roman"/>
              </a:rPr>
              <a:t>null</a:t>
            </a:r>
            <a:r>
              <a:rPr sz="2400" spc="8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E7E7E"/>
                </a:solidFill>
                <a:latin typeface="Times New Roman"/>
                <a:cs typeface="Times New Roman"/>
              </a:rPr>
              <a:t>values.</a:t>
            </a:r>
            <a:r>
              <a:rPr sz="2400" spc="10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E7E7E"/>
                </a:solidFill>
                <a:latin typeface="Times New Roman"/>
                <a:cs typeface="Times New Roman"/>
              </a:rPr>
              <a:t>This</a:t>
            </a:r>
            <a:r>
              <a:rPr sz="2400" spc="7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E7E7E"/>
                </a:solidFill>
                <a:latin typeface="Times New Roman"/>
                <a:cs typeface="Times New Roman"/>
              </a:rPr>
              <a:t>correction</a:t>
            </a:r>
            <a:r>
              <a:rPr sz="2400" spc="10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7E7E7E"/>
                </a:solidFill>
                <a:latin typeface="Times New Roman"/>
                <a:cs typeface="Times New Roman"/>
              </a:rPr>
              <a:t>is </a:t>
            </a:r>
            <a:r>
              <a:rPr sz="2400" dirty="0">
                <a:solidFill>
                  <a:srgbClr val="7E7E7E"/>
                </a:solidFill>
                <a:latin typeface="Times New Roman"/>
                <a:cs typeface="Times New Roman"/>
              </a:rPr>
              <a:t>done</a:t>
            </a:r>
            <a:r>
              <a:rPr sz="2400" spc="-2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E7E7E"/>
                </a:solidFill>
                <a:latin typeface="Times New Roman"/>
                <a:cs typeface="Times New Roman"/>
              </a:rPr>
              <a:t>in </a:t>
            </a:r>
            <a:r>
              <a:rPr sz="2400" spc="-20" dirty="0">
                <a:solidFill>
                  <a:srgbClr val="7E7E7E"/>
                </a:solidFill>
                <a:latin typeface="Times New Roman"/>
                <a:cs typeface="Times New Roman"/>
              </a:rPr>
              <a:t>EDA.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6983" y="2112264"/>
            <a:ext cx="4002024" cy="45262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24015" y="1917192"/>
            <a:ext cx="5001768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7511" y="25400"/>
            <a:ext cx="5776595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spc="350" dirty="0">
                <a:latin typeface="Cambria"/>
                <a:cs typeface="Cambria"/>
              </a:rPr>
              <a:t>Feature</a:t>
            </a:r>
            <a:r>
              <a:rPr sz="4400" spc="204" dirty="0">
                <a:latin typeface="Cambria"/>
                <a:cs typeface="Cambria"/>
              </a:rPr>
              <a:t> </a:t>
            </a:r>
            <a:r>
              <a:rPr sz="4400" spc="355" dirty="0">
                <a:latin typeface="Cambria"/>
                <a:cs typeface="Cambria"/>
              </a:rPr>
              <a:t>Engineering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5837" y="835533"/>
            <a:ext cx="4998085" cy="269684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385"/>
              </a:spcBef>
            </a:pPr>
            <a:r>
              <a:rPr sz="2400" dirty="0">
                <a:latin typeface="Times New Roman"/>
                <a:cs typeface="Times New Roman"/>
              </a:rPr>
              <a:t>In this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step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creating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new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columns </a:t>
            </a:r>
            <a:r>
              <a:rPr sz="2400" dirty="0">
                <a:latin typeface="Times New Roman"/>
                <a:cs typeface="Times New Roman"/>
              </a:rPr>
              <a:t>named</a:t>
            </a:r>
            <a:r>
              <a:rPr sz="2400" spc="585" dirty="0">
                <a:latin typeface="Times New Roman"/>
                <a:cs typeface="Times New Roman"/>
              </a:rPr>
              <a:t>     </a:t>
            </a:r>
            <a:r>
              <a:rPr sz="2400" b="1" dirty="0">
                <a:latin typeface="Times New Roman"/>
                <a:cs typeface="Times New Roman"/>
              </a:rPr>
              <a:t>timeofday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595" dirty="0">
                <a:latin typeface="Times New Roman"/>
                <a:cs typeface="Times New Roman"/>
              </a:rPr>
              <a:t>     </a:t>
            </a:r>
            <a:r>
              <a:rPr sz="2400" b="1" spc="-10" dirty="0">
                <a:latin typeface="Times New Roman"/>
                <a:cs typeface="Times New Roman"/>
              </a:rPr>
              <a:t>dayname</a:t>
            </a:r>
            <a:r>
              <a:rPr sz="2400" spc="-10" dirty="0">
                <a:latin typeface="Times New Roman"/>
                <a:cs typeface="Times New Roman"/>
              </a:rPr>
              <a:t>, </a:t>
            </a:r>
            <a:r>
              <a:rPr sz="2400" b="1" dirty="0">
                <a:latin typeface="Times New Roman"/>
                <a:cs typeface="Times New Roman"/>
              </a:rPr>
              <a:t>monthname</a:t>
            </a:r>
            <a:r>
              <a:rPr sz="2400" b="1" spc="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3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extracting</a:t>
            </a:r>
            <a:r>
              <a:rPr sz="2400" spc="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values</a:t>
            </a:r>
            <a:r>
              <a:rPr sz="2400" spc="39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from </a:t>
            </a:r>
            <a:r>
              <a:rPr sz="2400" dirty="0">
                <a:latin typeface="Times New Roman"/>
                <a:cs typeface="Times New Roman"/>
              </a:rPr>
              <a:t>date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column.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help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us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analyse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answer</a:t>
            </a:r>
            <a:r>
              <a:rPr sz="2400" spc="29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sales</a:t>
            </a:r>
            <a:r>
              <a:rPr sz="2400" spc="2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on </a:t>
            </a:r>
            <a:r>
              <a:rPr sz="2400" spc="-10" dirty="0">
                <a:latin typeface="Times New Roman"/>
                <a:cs typeface="Times New Roman"/>
              </a:rPr>
              <a:t>time-of-</a:t>
            </a:r>
            <a:r>
              <a:rPr sz="2400" dirty="0">
                <a:latin typeface="Times New Roman"/>
                <a:cs typeface="Times New Roman"/>
              </a:rPr>
              <a:t>day</a:t>
            </a:r>
            <a:r>
              <a:rPr sz="2400" spc="340" dirty="0">
                <a:latin typeface="Times New Roman"/>
                <a:cs typeface="Times New Roman"/>
              </a:rPr>
              <a:t>    </a:t>
            </a:r>
            <a:r>
              <a:rPr sz="2400" dirty="0">
                <a:latin typeface="Times New Roman"/>
                <a:cs typeface="Times New Roman"/>
              </a:rPr>
              <a:t>(Morning,</a:t>
            </a:r>
            <a:r>
              <a:rPr sz="2400" spc="355" dirty="0">
                <a:latin typeface="Times New Roman"/>
                <a:cs typeface="Times New Roman"/>
              </a:rPr>
              <a:t>    </a:t>
            </a:r>
            <a:r>
              <a:rPr sz="2400" spc="-10" dirty="0">
                <a:latin typeface="Times New Roman"/>
                <a:cs typeface="Times New Roman"/>
              </a:rPr>
              <a:t>Afternoon, </a:t>
            </a:r>
            <a:r>
              <a:rPr sz="2400" dirty="0">
                <a:latin typeface="Times New Roman"/>
                <a:cs typeface="Times New Roman"/>
              </a:rPr>
              <a:t>Evening),</a:t>
            </a:r>
            <a:r>
              <a:rPr sz="2400" spc="245" dirty="0">
                <a:latin typeface="Times New Roman"/>
                <a:cs typeface="Times New Roman"/>
              </a:rPr>
              <a:t>   </a:t>
            </a:r>
            <a:r>
              <a:rPr sz="2400" spc="-10" dirty="0">
                <a:latin typeface="Times New Roman"/>
                <a:cs typeface="Times New Roman"/>
              </a:rPr>
              <a:t>day</a:t>
            </a:r>
            <a:r>
              <a:rPr lang="en-IN" sz="2400" spc="-10" dirty="0">
                <a:latin typeface="Times New Roman"/>
                <a:cs typeface="Times New Roman"/>
              </a:rPr>
              <a:t>-</a:t>
            </a:r>
            <a:r>
              <a:rPr sz="2400" spc="-10" dirty="0">
                <a:latin typeface="Times New Roman"/>
                <a:cs typeface="Times New Roman"/>
              </a:rPr>
              <a:t>of-</a:t>
            </a:r>
            <a:r>
              <a:rPr sz="2400" dirty="0">
                <a:latin typeface="Times New Roman"/>
                <a:cs typeface="Times New Roman"/>
              </a:rPr>
              <a:t>week</a:t>
            </a:r>
            <a:r>
              <a:rPr sz="2400" spc="260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(Sunday</a:t>
            </a:r>
            <a:r>
              <a:rPr sz="2400" spc="235" dirty="0">
                <a:latin typeface="Times New Roman"/>
                <a:cs typeface="Times New Roman"/>
              </a:rPr>
              <a:t>   </a:t>
            </a:r>
            <a:r>
              <a:rPr sz="2400" spc="-2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Saturday)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month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(Jan-March).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4258" y="847344"/>
            <a:ext cx="5192557" cy="525855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6488" y="3776471"/>
            <a:ext cx="5239512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3066" y="301193"/>
            <a:ext cx="732726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330" dirty="0">
                <a:latin typeface="Cambria"/>
                <a:cs typeface="Cambria"/>
              </a:rPr>
              <a:t>Exploratory</a:t>
            </a:r>
            <a:r>
              <a:rPr sz="4400" spc="185" dirty="0">
                <a:latin typeface="Cambria"/>
                <a:cs typeface="Cambria"/>
              </a:rPr>
              <a:t> </a:t>
            </a:r>
            <a:r>
              <a:rPr sz="4400" spc="545" dirty="0">
                <a:latin typeface="Cambria"/>
                <a:cs typeface="Cambria"/>
              </a:rPr>
              <a:t>Data</a:t>
            </a:r>
            <a:r>
              <a:rPr sz="4400" spc="165" dirty="0">
                <a:latin typeface="Cambria"/>
                <a:cs typeface="Cambria"/>
              </a:rPr>
              <a:t> </a:t>
            </a:r>
            <a:r>
              <a:rPr sz="4400" spc="260" dirty="0">
                <a:latin typeface="Cambria"/>
                <a:cs typeface="Cambria"/>
              </a:rPr>
              <a:t>Analysis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8821" y="1054430"/>
            <a:ext cx="949261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Step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[1]: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Creating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new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named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Amazon</a:t>
            </a:r>
            <a:r>
              <a:rPr sz="2400" b="1" spc="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Sales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correct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column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35"/>
              </a:lnSpc>
            </a:pPr>
            <a:r>
              <a:rPr sz="2400" dirty="0">
                <a:latin typeface="Times New Roman"/>
                <a:cs typeface="Times New Roman"/>
              </a:rPr>
              <a:t>names,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datatypes,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constraints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copying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demo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table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Amazon.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9657" y="1877566"/>
            <a:ext cx="4853167" cy="498043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25768" y="1877566"/>
            <a:ext cx="3953255" cy="48585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7193" y="264998"/>
            <a:ext cx="98456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11845" algn="l"/>
              </a:tabLst>
            </a:pPr>
            <a:r>
              <a:rPr sz="2400" dirty="0"/>
              <a:t>Step</a:t>
            </a:r>
            <a:r>
              <a:rPr sz="2400" spc="-15" dirty="0"/>
              <a:t> </a:t>
            </a:r>
            <a:r>
              <a:rPr sz="2400" dirty="0"/>
              <a:t>[2]:</a:t>
            </a:r>
            <a:r>
              <a:rPr sz="2400" spc="-50" dirty="0"/>
              <a:t> </a:t>
            </a:r>
            <a:r>
              <a:rPr sz="2400" dirty="0"/>
              <a:t>Checking</a:t>
            </a:r>
            <a:r>
              <a:rPr sz="2400" spc="-5" dirty="0"/>
              <a:t> </a:t>
            </a:r>
            <a:r>
              <a:rPr sz="2400" dirty="0"/>
              <a:t>size</a:t>
            </a:r>
            <a:r>
              <a:rPr sz="2400" spc="-35" dirty="0"/>
              <a:t> </a:t>
            </a:r>
            <a:r>
              <a:rPr sz="2400" dirty="0"/>
              <a:t>of</a:t>
            </a:r>
            <a:r>
              <a:rPr sz="2400" spc="-15" dirty="0"/>
              <a:t> </a:t>
            </a:r>
            <a:r>
              <a:rPr sz="2400" dirty="0"/>
              <a:t>table,</a:t>
            </a:r>
            <a:r>
              <a:rPr sz="2400" spc="-15" dirty="0"/>
              <a:t> </a:t>
            </a:r>
            <a:r>
              <a:rPr sz="2400" dirty="0"/>
              <a:t>count</a:t>
            </a:r>
            <a:r>
              <a:rPr sz="2400" spc="-15" dirty="0"/>
              <a:t> </a:t>
            </a:r>
            <a:r>
              <a:rPr sz="2400" dirty="0"/>
              <a:t>of</a:t>
            </a:r>
            <a:r>
              <a:rPr sz="2400" spc="-15" dirty="0"/>
              <a:t> </a:t>
            </a:r>
            <a:r>
              <a:rPr sz="2400" dirty="0"/>
              <a:t>null</a:t>
            </a:r>
            <a:r>
              <a:rPr sz="2400" spc="-20" dirty="0"/>
              <a:t> </a:t>
            </a:r>
            <a:r>
              <a:rPr sz="2400" dirty="0"/>
              <a:t>values,</a:t>
            </a:r>
            <a:r>
              <a:rPr sz="2400" spc="20" dirty="0"/>
              <a:t> </a:t>
            </a:r>
            <a:r>
              <a:rPr sz="2400" dirty="0"/>
              <a:t>unique</a:t>
            </a:r>
            <a:r>
              <a:rPr sz="2400" spc="-40" dirty="0"/>
              <a:t> </a:t>
            </a:r>
            <a:r>
              <a:rPr sz="2400" spc="-10" dirty="0"/>
              <a:t>values</a:t>
            </a:r>
            <a:r>
              <a:rPr sz="2400" dirty="0"/>
              <a:t>	in</a:t>
            </a:r>
            <a:r>
              <a:rPr sz="2400" spc="-35" dirty="0"/>
              <a:t> </a:t>
            </a:r>
            <a:r>
              <a:rPr sz="2400" spc="-10" dirty="0"/>
              <a:t>columns.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2032" y="704087"/>
            <a:ext cx="6288024" cy="159982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42032" y="2380488"/>
            <a:ext cx="5727192" cy="129612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62711" y="3800855"/>
            <a:ext cx="11564620" cy="2794635"/>
            <a:chOff x="362711" y="3800855"/>
            <a:chExt cx="11564620" cy="279463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42032" y="3800855"/>
              <a:ext cx="5791200" cy="12954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2711" y="5096255"/>
              <a:ext cx="11564112" cy="149911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2613" rIns="0" bIns="0" rtlCol="0">
            <a:spAutoFit/>
          </a:bodyPr>
          <a:lstStyle/>
          <a:p>
            <a:pPr marL="12700" marR="5080" algn="just">
              <a:lnSpc>
                <a:spcPts val="2590"/>
              </a:lnSpc>
              <a:spcBef>
                <a:spcPts val="430"/>
              </a:spcBef>
            </a:pPr>
            <a:r>
              <a:rPr sz="2400" dirty="0"/>
              <a:t>Step</a:t>
            </a:r>
            <a:r>
              <a:rPr sz="2400" spc="430" dirty="0"/>
              <a:t> </a:t>
            </a:r>
            <a:r>
              <a:rPr sz="2400" dirty="0"/>
              <a:t>[3]:</a:t>
            </a:r>
            <a:r>
              <a:rPr sz="2400" spc="415" dirty="0"/>
              <a:t> </a:t>
            </a:r>
            <a:r>
              <a:rPr sz="2400" dirty="0"/>
              <a:t>Checking</a:t>
            </a:r>
            <a:r>
              <a:rPr sz="2400" spc="415" dirty="0"/>
              <a:t> </a:t>
            </a:r>
            <a:r>
              <a:rPr sz="2400" dirty="0"/>
              <a:t>the</a:t>
            </a:r>
            <a:r>
              <a:rPr sz="2400" spc="405" dirty="0"/>
              <a:t> </a:t>
            </a:r>
            <a:r>
              <a:rPr sz="2400" dirty="0"/>
              <a:t>unique</a:t>
            </a:r>
            <a:r>
              <a:rPr sz="2400" spc="425" dirty="0"/>
              <a:t> </a:t>
            </a:r>
            <a:r>
              <a:rPr sz="2400" dirty="0"/>
              <a:t>values</a:t>
            </a:r>
            <a:r>
              <a:rPr sz="2400" spc="434" dirty="0"/>
              <a:t> </a:t>
            </a:r>
            <a:r>
              <a:rPr sz="2400" dirty="0"/>
              <a:t>in</a:t>
            </a:r>
            <a:r>
              <a:rPr sz="2400" spc="434" dirty="0"/>
              <a:t> </a:t>
            </a:r>
            <a:r>
              <a:rPr sz="2400" dirty="0"/>
              <a:t>each</a:t>
            </a:r>
            <a:r>
              <a:rPr sz="2400" spc="440" dirty="0"/>
              <a:t> </a:t>
            </a:r>
            <a:r>
              <a:rPr sz="2400" dirty="0"/>
              <a:t>categorical</a:t>
            </a:r>
            <a:r>
              <a:rPr sz="2400" spc="440" dirty="0"/>
              <a:t> </a:t>
            </a:r>
            <a:r>
              <a:rPr sz="2400" dirty="0"/>
              <a:t>column.</a:t>
            </a:r>
            <a:r>
              <a:rPr sz="2400" spc="434" dirty="0"/>
              <a:t> </a:t>
            </a:r>
            <a:r>
              <a:rPr sz="2400" dirty="0"/>
              <a:t>There</a:t>
            </a:r>
            <a:r>
              <a:rPr sz="2400" spc="425" dirty="0"/>
              <a:t> </a:t>
            </a:r>
            <a:r>
              <a:rPr sz="2400" dirty="0"/>
              <a:t>are</a:t>
            </a:r>
            <a:r>
              <a:rPr sz="2400" spc="420" dirty="0"/>
              <a:t> </a:t>
            </a:r>
            <a:r>
              <a:rPr sz="2400" spc="-25" dirty="0"/>
              <a:t>10 </a:t>
            </a:r>
            <a:r>
              <a:rPr sz="2400" dirty="0"/>
              <a:t>categorical</a:t>
            </a:r>
            <a:r>
              <a:rPr sz="2400" spc="200" dirty="0"/>
              <a:t>   </a:t>
            </a:r>
            <a:r>
              <a:rPr sz="2400" dirty="0"/>
              <a:t>columns</a:t>
            </a:r>
            <a:r>
              <a:rPr sz="2400" spc="204" dirty="0"/>
              <a:t>   </a:t>
            </a:r>
            <a:r>
              <a:rPr sz="2400" b="1" dirty="0">
                <a:latin typeface="Times New Roman"/>
                <a:cs typeface="Times New Roman"/>
              </a:rPr>
              <a:t>[invoice_id,</a:t>
            </a:r>
            <a:r>
              <a:rPr sz="2400" b="1" spc="59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branch,</a:t>
            </a:r>
            <a:r>
              <a:rPr sz="2400" b="1" spc="59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city,</a:t>
            </a:r>
            <a:r>
              <a:rPr sz="2400" b="1" spc="200" dirty="0">
                <a:latin typeface="Times New Roman"/>
                <a:cs typeface="Times New Roman"/>
              </a:rPr>
              <a:t>   </a:t>
            </a:r>
            <a:r>
              <a:rPr sz="2400" b="1" dirty="0">
                <a:latin typeface="Times New Roman"/>
                <a:cs typeface="Times New Roman"/>
              </a:rPr>
              <a:t>customer_type,</a:t>
            </a:r>
            <a:r>
              <a:rPr sz="2400" b="1" spc="210" dirty="0">
                <a:latin typeface="Times New Roman"/>
                <a:cs typeface="Times New Roman"/>
              </a:rPr>
              <a:t>   </a:t>
            </a:r>
            <a:r>
              <a:rPr sz="2400" b="1" spc="-10" dirty="0">
                <a:latin typeface="Times New Roman"/>
                <a:cs typeface="Times New Roman"/>
              </a:rPr>
              <a:t>gender, </a:t>
            </a:r>
            <a:r>
              <a:rPr sz="2400" b="1" dirty="0">
                <a:latin typeface="Times New Roman"/>
                <a:cs typeface="Times New Roman"/>
              </a:rPr>
              <a:t>product_line,</a:t>
            </a:r>
            <a:r>
              <a:rPr sz="2400" b="1" spc="-1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payment_method,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time_of_day,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day_name,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month_name]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552" y="1624583"/>
            <a:ext cx="925791" cy="9052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86328" y="1627632"/>
            <a:ext cx="1152144" cy="87807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82383" y="3172967"/>
            <a:ext cx="1331976" cy="61801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38471" y="3172967"/>
            <a:ext cx="913374" cy="684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86600" y="4285488"/>
            <a:ext cx="1801368" cy="153314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744456" y="1615439"/>
            <a:ext cx="1514855" cy="83989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623559" y="1624583"/>
            <a:ext cx="1239750" cy="89611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66872" y="4285488"/>
            <a:ext cx="1219200" cy="168819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53528" y="1642872"/>
            <a:ext cx="1218449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0417" y="234518"/>
            <a:ext cx="855218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285" dirty="0">
                <a:latin typeface="Cambria"/>
                <a:cs typeface="Cambria"/>
              </a:rPr>
              <a:t>Answering</a:t>
            </a:r>
            <a:r>
              <a:rPr sz="4400" spc="195" dirty="0">
                <a:latin typeface="Cambria"/>
                <a:cs typeface="Cambria"/>
              </a:rPr>
              <a:t> </a:t>
            </a:r>
            <a:r>
              <a:rPr sz="4400" spc="380" dirty="0">
                <a:latin typeface="Cambria"/>
                <a:cs typeface="Cambria"/>
              </a:rPr>
              <a:t>Business</a:t>
            </a:r>
            <a:r>
              <a:rPr sz="4400" spc="180" dirty="0">
                <a:latin typeface="Cambria"/>
                <a:cs typeface="Cambria"/>
              </a:rPr>
              <a:t> </a:t>
            </a:r>
            <a:r>
              <a:rPr sz="4400" spc="345" dirty="0">
                <a:latin typeface="Cambria"/>
                <a:cs typeface="Cambria"/>
              </a:rPr>
              <a:t>Questions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79296" y="1063828"/>
            <a:ext cx="66167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Q.1]</a:t>
            </a:r>
            <a:r>
              <a:rPr sz="2400" spc="-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What</a:t>
            </a:r>
            <a:r>
              <a:rPr sz="2400" spc="-3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is</a:t>
            </a:r>
            <a:r>
              <a:rPr sz="2400" spc="-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the</a:t>
            </a:r>
            <a:r>
              <a:rPr sz="2400" spc="-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count</a:t>
            </a:r>
            <a:r>
              <a:rPr sz="2400" spc="-3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of distinct</a:t>
            </a:r>
            <a:r>
              <a:rPr sz="2400" spc="-3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cities</a:t>
            </a:r>
            <a:r>
              <a:rPr sz="2400" spc="-3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in</a:t>
            </a:r>
            <a:r>
              <a:rPr sz="2400" spc="-1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the</a:t>
            </a:r>
            <a:r>
              <a:rPr sz="2400" spc="-4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74151"/>
                </a:solidFill>
                <a:latin typeface="Times New Roman"/>
                <a:cs typeface="Times New Roman"/>
              </a:rPr>
              <a:t>dataset?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8272" y="1502663"/>
            <a:ext cx="5745480" cy="12192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79296" y="2941141"/>
            <a:ext cx="61156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Q.2]</a:t>
            </a:r>
            <a:r>
              <a:rPr sz="2400" spc="-2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For</a:t>
            </a:r>
            <a:r>
              <a:rPr sz="2400" spc="-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each</a:t>
            </a:r>
            <a:r>
              <a:rPr sz="2400" spc="-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branch,</a:t>
            </a:r>
            <a:r>
              <a:rPr sz="2400" spc="-3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what</a:t>
            </a:r>
            <a:r>
              <a:rPr sz="2400" spc="-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is</a:t>
            </a:r>
            <a:r>
              <a:rPr sz="2400" spc="-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corresponding</a:t>
            </a:r>
            <a:r>
              <a:rPr sz="2400" spc="-2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74151"/>
                </a:solidFill>
                <a:latin typeface="Times New Roman"/>
                <a:cs typeface="Times New Roman"/>
              </a:rPr>
              <a:t>city?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38272" y="3429000"/>
            <a:ext cx="5763768" cy="167640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8892158" y="5270436"/>
            <a:ext cx="140335" cy="338455"/>
          </a:xfrm>
          <a:custGeom>
            <a:avLst/>
            <a:gdLst/>
            <a:ahLst/>
            <a:cxnLst/>
            <a:rect l="l" t="t" r="r" b="b"/>
            <a:pathLst>
              <a:path w="140334" h="338454">
                <a:moveTo>
                  <a:pt x="140207" y="0"/>
                </a:moveTo>
                <a:lnTo>
                  <a:pt x="0" y="0"/>
                </a:lnTo>
                <a:lnTo>
                  <a:pt x="0" y="338328"/>
                </a:lnTo>
                <a:lnTo>
                  <a:pt x="140207" y="338328"/>
                </a:lnTo>
                <a:lnTo>
                  <a:pt x="1402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79296" y="5220716"/>
            <a:ext cx="756348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Q.3]</a:t>
            </a:r>
            <a:r>
              <a:rPr sz="2400" spc="-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What</a:t>
            </a:r>
            <a:r>
              <a:rPr sz="2400" spc="-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is the</a:t>
            </a:r>
            <a:r>
              <a:rPr sz="2400" spc="-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count</a:t>
            </a:r>
            <a:r>
              <a:rPr sz="2400" spc="-2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of</a:t>
            </a:r>
            <a:r>
              <a:rPr sz="240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distinct</a:t>
            </a:r>
            <a:r>
              <a:rPr sz="2400" spc="-2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product</a:t>
            </a:r>
            <a:r>
              <a:rPr sz="2400" spc="-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lines</a:t>
            </a:r>
            <a:r>
              <a:rPr sz="2400" spc="-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in the</a:t>
            </a:r>
            <a:r>
              <a:rPr sz="2400" spc="-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74151"/>
                </a:solidFill>
                <a:latin typeface="Times New Roman"/>
                <a:cs typeface="Times New Roman"/>
              </a:rPr>
              <a:t>dataset?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53511" y="5580888"/>
            <a:ext cx="5714999" cy="12527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7182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74151"/>
                </a:solidFill>
              </a:rPr>
              <a:t>Q.4]</a:t>
            </a:r>
            <a:r>
              <a:rPr sz="2400" spc="-70" dirty="0">
                <a:solidFill>
                  <a:srgbClr val="374151"/>
                </a:solidFill>
              </a:rPr>
              <a:t> </a:t>
            </a:r>
            <a:r>
              <a:rPr sz="2400" dirty="0">
                <a:solidFill>
                  <a:srgbClr val="374151"/>
                </a:solidFill>
              </a:rPr>
              <a:t>Which</a:t>
            </a:r>
            <a:r>
              <a:rPr sz="2400" spc="-55" dirty="0">
                <a:solidFill>
                  <a:srgbClr val="374151"/>
                </a:solidFill>
              </a:rPr>
              <a:t> </a:t>
            </a:r>
            <a:r>
              <a:rPr sz="2400" dirty="0">
                <a:solidFill>
                  <a:srgbClr val="374151"/>
                </a:solidFill>
              </a:rPr>
              <a:t>payment</a:t>
            </a:r>
            <a:r>
              <a:rPr sz="2400" spc="35" dirty="0">
                <a:solidFill>
                  <a:srgbClr val="374151"/>
                </a:solidFill>
              </a:rPr>
              <a:t> </a:t>
            </a:r>
            <a:r>
              <a:rPr sz="2400" dirty="0">
                <a:solidFill>
                  <a:srgbClr val="374151"/>
                </a:solidFill>
              </a:rPr>
              <a:t>method</a:t>
            </a:r>
            <a:r>
              <a:rPr sz="2400" spc="-55" dirty="0">
                <a:solidFill>
                  <a:srgbClr val="374151"/>
                </a:solidFill>
              </a:rPr>
              <a:t> </a:t>
            </a:r>
            <a:r>
              <a:rPr sz="2400" dirty="0">
                <a:solidFill>
                  <a:srgbClr val="374151"/>
                </a:solidFill>
              </a:rPr>
              <a:t>occurs</a:t>
            </a:r>
            <a:r>
              <a:rPr sz="2400" spc="-10" dirty="0">
                <a:solidFill>
                  <a:srgbClr val="374151"/>
                </a:solidFill>
              </a:rPr>
              <a:t> </a:t>
            </a:r>
            <a:r>
              <a:rPr sz="2400" dirty="0">
                <a:solidFill>
                  <a:srgbClr val="374151"/>
                </a:solidFill>
              </a:rPr>
              <a:t>most</a:t>
            </a:r>
            <a:r>
              <a:rPr sz="2400" spc="-25" dirty="0">
                <a:solidFill>
                  <a:srgbClr val="374151"/>
                </a:solidFill>
              </a:rPr>
              <a:t> </a:t>
            </a:r>
            <a:r>
              <a:rPr sz="2400" spc="-10" dirty="0">
                <a:solidFill>
                  <a:srgbClr val="374151"/>
                </a:solidFill>
              </a:rPr>
              <a:t>frequently?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4911" y="603503"/>
            <a:ext cx="6019799" cy="22029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98472" y="2988005"/>
            <a:ext cx="56864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Q.5]</a:t>
            </a:r>
            <a:r>
              <a:rPr sz="2400" spc="-5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Which</a:t>
            </a:r>
            <a:r>
              <a:rPr sz="2400" spc="-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product</a:t>
            </a:r>
            <a:r>
              <a:rPr sz="2400" spc="-2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line</a:t>
            </a:r>
            <a:r>
              <a:rPr sz="2400" spc="-3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has</a:t>
            </a:r>
            <a:r>
              <a:rPr sz="2400" spc="-2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the</a:t>
            </a:r>
            <a:r>
              <a:rPr sz="2400" spc="-3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4151"/>
                </a:solidFill>
                <a:latin typeface="Times New Roman"/>
                <a:cs typeface="Times New Roman"/>
              </a:rPr>
              <a:t>highest</a:t>
            </a:r>
            <a:r>
              <a:rPr sz="2400" spc="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74151"/>
                </a:solidFill>
                <a:latin typeface="Times New Roman"/>
                <a:cs typeface="Times New Roman"/>
              </a:rPr>
              <a:t>sales?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24911" y="3550920"/>
            <a:ext cx="6409944" cy="27527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8303" rIns="0" bIns="0" rtlCol="0">
            <a:spAutoFit/>
          </a:bodyPr>
          <a:lstStyle/>
          <a:p>
            <a:pPr marL="688975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Q.6]</a:t>
            </a:r>
            <a:r>
              <a:rPr sz="2400" spc="-30" dirty="0"/>
              <a:t> </a:t>
            </a:r>
            <a:r>
              <a:rPr sz="2400" dirty="0"/>
              <a:t>How</a:t>
            </a:r>
            <a:r>
              <a:rPr sz="2400" spc="-20" dirty="0"/>
              <a:t> </a:t>
            </a:r>
            <a:r>
              <a:rPr sz="2400" dirty="0"/>
              <a:t>much</a:t>
            </a:r>
            <a:r>
              <a:rPr sz="2400" spc="-65" dirty="0"/>
              <a:t> </a:t>
            </a:r>
            <a:r>
              <a:rPr sz="2400" dirty="0"/>
              <a:t>revenue</a:t>
            </a:r>
            <a:r>
              <a:rPr sz="2400" spc="-5" dirty="0"/>
              <a:t> </a:t>
            </a:r>
            <a:r>
              <a:rPr sz="2400" dirty="0"/>
              <a:t>is</a:t>
            </a:r>
            <a:r>
              <a:rPr sz="2400" spc="-50" dirty="0"/>
              <a:t> </a:t>
            </a:r>
            <a:r>
              <a:rPr sz="2400" dirty="0"/>
              <a:t>generated each</a:t>
            </a:r>
            <a:r>
              <a:rPr sz="2400" spc="-20" dirty="0"/>
              <a:t> </a:t>
            </a:r>
            <a:r>
              <a:rPr sz="2400" spc="-10" dirty="0"/>
              <a:t>month?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6455" y="472440"/>
            <a:ext cx="6419088" cy="22006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02994" y="2660650"/>
            <a:ext cx="63804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Q.7]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generated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highest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revenue?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86455" y="3203448"/>
            <a:ext cx="6440424" cy="26578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8303" rIns="0" bIns="0" rtlCol="0">
            <a:spAutoFit/>
          </a:bodyPr>
          <a:lstStyle/>
          <a:p>
            <a:pPr marL="860425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Q.8]</a:t>
            </a:r>
            <a:r>
              <a:rPr sz="2400" spc="-10" dirty="0"/>
              <a:t> </a:t>
            </a:r>
            <a:r>
              <a:rPr sz="2400" dirty="0"/>
              <a:t>In</a:t>
            </a:r>
            <a:r>
              <a:rPr sz="2400" spc="15" dirty="0"/>
              <a:t> </a:t>
            </a:r>
            <a:r>
              <a:rPr sz="2400" dirty="0"/>
              <a:t>which</a:t>
            </a:r>
            <a:r>
              <a:rPr sz="2400" spc="-30" dirty="0"/>
              <a:t> </a:t>
            </a:r>
            <a:r>
              <a:rPr sz="2400" dirty="0"/>
              <a:t>month</a:t>
            </a:r>
            <a:r>
              <a:rPr sz="2400" spc="-25" dirty="0"/>
              <a:t> </a:t>
            </a:r>
            <a:r>
              <a:rPr sz="2400" dirty="0"/>
              <a:t>cost</a:t>
            </a:r>
            <a:r>
              <a:rPr sz="2400" spc="-40" dirty="0"/>
              <a:t> </a:t>
            </a:r>
            <a:r>
              <a:rPr sz="2400" dirty="0"/>
              <a:t>of</a:t>
            </a:r>
            <a:r>
              <a:rPr sz="2400" spc="-15" dirty="0"/>
              <a:t> </a:t>
            </a:r>
            <a:r>
              <a:rPr sz="2400" dirty="0"/>
              <a:t>goods</a:t>
            </a:r>
            <a:r>
              <a:rPr sz="2400" spc="-10" dirty="0"/>
              <a:t> </a:t>
            </a:r>
            <a:r>
              <a:rPr sz="2400" dirty="0"/>
              <a:t>sold</a:t>
            </a:r>
            <a:r>
              <a:rPr sz="2400" spc="-20" dirty="0"/>
              <a:t> </a:t>
            </a:r>
            <a:r>
              <a:rPr sz="2400" dirty="0"/>
              <a:t>reach</a:t>
            </a:r>
            <a:r>
              <a:rPr sz="2400" spc="-10" dirty="0"/>
              <a:t> </a:t>
            </a:r>
            <a:r>
              <a:rPr sz="2400" dirty="0"/>
              <a:t>its</a:t>
            </a:r>
            <a:r>
              <a:rPr sz="2400" spc="-45" dirty="0"/>
              <a:t> </a:t>
            </a:r>
            <a:r>
              <a:rPr sz="2400" spc="-10" dirty="0"/>
              <a:t>peak?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4055" y="560831"/>
            <a:ext cx="6534911" cy="21446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74698" y="2905125"/>
            <a:ext cx="6184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Q.9]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city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highest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revenue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recorded?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34055" y="3429000"/>
            <a:ext cx="5724144" cy="21244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8975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Q.10]</a:t>
            </a:r>
            <a:r>
              <a:rPr sz="2400" spc="-75" dirty="0"/>
              <a:t> </a:t>
            </a:r>
            <a:r>
              <a:rPr sz="2400" dirty="0"/>
              <a:t>Which</a:t>
            </a:r>
            <a:r>
              <a:rPr sz="2400" spc="-45" dirty="0"/>
              <a:t> </a:t>
            </a:r>
            <a:r>
              <a:rPr sz="2400" dirty="0"/>
              <a:t>product</a:t>
            </a:r>
            <a:r>
              <a:rPr sz="2400" spc="-15" dirty="0"/>
              <a:t> </a:t>
            </a:r>
            <a:r>
              <a:rPr sz="2400" dirty="0"/>
              <a:t>line</a:t>
            </a:r>
            <a:r>
              <a:rPr sz="2400" spc="-30" dirty="0"/>
              <a:t> </a:t>
            </a:r>
            <a:r>
              <a:rPr sz="2400" dirty="0"/>
              <a:t>incurred the</a:t>
            </a:r>
            <a:r>
              <a:rPr sz="2400" spc="-50" dirty="0"/>
              <a:t> </a:t>
            </a:r>
            <a:r>
              <a:rPr sz="2400" dirty="0"/>
              <a:t>highest</a:t>
            </a:r>
            <a:r>
              <a:rPr sz="2400" spc="5" dirty="0"/>
              <a:t> </a:t>
            </a:r>
            <a:r>
              <a:rPr sz="2400" dirty="0"/>
              <a:t>value</a:t>
            </a:r>
            <a:r>
              <a:rPr sz="2400" spc="-25" dirty="0"/>
              <a:t> </a:t>
            </a:r>
            <a:r>
              <a:rPr sz="2400" dirty="0"/>
              <a:t>added </a:t>
            </a:r>
            <a:r>
              <a:rPr sz="2400" spc="-20" dirty="0"/>
              <a:t>tax?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9983" y="399288"/>
            <a:ext cx="5849112" cy="27519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02994" y="3150489"/>
            <a:ext cx="6382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Q.11]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occurs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frequently?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19983" y="3645408"/>
            <a:ext cx="5715000" cy="203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2994" y="121996"/>
            <a:ext cx="898969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Q.12]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line,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column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indicating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"Good"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sales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35"/>
              </a:lnSpc>
            </a:pP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above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average,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otherwise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"Bad."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6944" y="874775"/>
            <a:ext cx="9278112" cy="34960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02994" y="4351782"/>
            <a:ext cx="8254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Q.13]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branch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exceeded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average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sold?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0" y="4928615"/>
            <a:ext cx="9317736" cy="1752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8975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Q.14]</a:t>
            </a:r>
            <a:r>
              <a:rPr sz="2400" spc="-65" dirty="0"/>
              <a:t> </a:t>
            </a:r>
            <a:r>
              <a:rPr sz="2400" dirty="0"/>
              <a:t>Which</a:t>
            </a:r>
            <a:r>
              <a:rPr sz="2400" spc="-45" dirty="0"/>
              <a:t> </a:t>
            </a:r>
            <a:r>
              <a:rPr sz="2400" dirty="0"/>
              <a:t>product</a:t>
            </a:r>
            <a:r>
              <a:rPr sz="2400" spc="-20" dirty="0"/>
              <a:t> </a:t>
            </a:r>
            <a:r>
              <a:rPr sz="2400" dirty="0"/>
              <a:t>line</a:t>
            </a:r>
            <a:r>
              <a:rPr sz="2400" spc="-25" dirty="0"/>
              <a:t> </a:t>
            </a:r>
            <a:r>
              <a:rPr sz="2400" dirty="0"/>
              <a:t>is</a:t>
            </a:r>
            <a:r>
              <a:rPr sz="2400" spc="-40" dirty="0"/>
              <a:t> </a:t>
            </a:r>
            <a:r>
              <a:rPr sz="2400" dirty="0"/>
              <a:t>most</a:t>
            </a:r>
            <a:r>
              <a:rPr sz="2400" spc="-10" dirty="0"/>
              <a:t> </a:t>
            </a:r>
            <a:r>
              <a:rPr sz="2400" dirty="0"/>
              <a:t>frequently</a:t>
            </a:r>
            <a:r>
              <a:rPr sz="2400" spc="-20" dirty="0"/>
              <a:t> </a:t>
            </a:r>
            <a:r>
              <a:rPr sz="2400" dirty="0"/>
              <a:t>associated</a:t>
            </a:r>
            <a:r>
              <a:rPr sz="2400" spc="-5" dirty="0"/>
              <a:t> </a:t>
            </a:r>
            <a:r>
              <a:rPr sz="2400" dirty="0"/>
              <a:t>with</a:t>
            </a:r>
            <a:r>
              <a:rPr sz="2400" spc="-40" dirty="0"/>
              <a:t> </a:t>
            </a:r>
            <a:r>
              <a:rPr sz="2400" dirty="0"/>
              <a:t>each</a:t>
            </a:r>
            <a:r>
              <a:rPr sz="2400" spc="-5" dirty="0"/>
              <a:t> </a:t>
            </a:r>
            <a:r>
              <a:rPr sz="2400" spc="-10" dirty="0"/>
              <a:t>gender?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6560" y="341375"/>
            <a:ext cx="6278880" cy="34960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02994" y="3760165"/>
            <a:ext cx="79641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Q.15]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count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distinct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types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dataset?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9488" y="4255008"/>
            <a:ext cx="8193023" cy="137769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701" rIns="0" bIns="0" rtlCol="0">
            <a:spAutoFit/>
          </a:bodyPr>
          <a:lstStyle/>
          <a:p>
            <a:pPr marL="688975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Q.16]</a:t>
            </a:r>
            <a:r>
              <a:rPr sz="2400" spc="-30" dirty="0"/>
              <a:t> </a:t>
            </a:r>
            <a:r>
              <a:rPr sz="2400" dirty="0"/>
              <a:t>Calculate</a:t>
            </a:r>
            <a:r>
              <a:rPr sz="2400" spc="-60" dirty="0"/>
              <a:t> </a:t>
            </a:r>
            <a:r>
              <a:rPr sz="2400" dirty="0"/>
              <a:t>the</a:t>
            </a:r>
            <a:r>
              <a:rPr sz="2400" spc="-35" dirty="0"/>
              <a:t> </a:t>
            </a:r>
            <a:r>
              <a:rPr sz="2400" dirty="0"/>
              <a:t>average</a:t>
            </a:r>
            <a:r>
              <a:rPr sz="2400" spc="35" dirty="0"/>
              <a:t> </a:t>
            </a:r>
            <a:r>
              <a:rPr sz="2400" dirty="0"/>
              <a:t>rating</a:t>
            </a:r>
            <a:r>
              <a:rPr sz="2400" spc="-50" dirty="0"/>
              <a:t> </a:t>
            </a:r>
            <a:r>
              <a:rPr sz="2400" dirty="0"/>
              <a:t>for</a:t>
            </a:r>
            <a:r>
              <a:rPr sz="2400" spc="-10" dirty="0"/>
              <a:t> </a:t>
            </a:r>
            <a:r>
              <a:rPr sz="2400" dirty="0"/>
              <a:t>each</a:t>
            </a:r>
            <a:r>
              <a:rPr sz="2400" spc="-10" dirty="0"/>
              <a:t> </a:t>
            </a:r>
            <a:r>
              <a:rPr sz="2400" dirty="0"/>
              <a:t>product</a:t>
            </a:r>
            <a:r>
              <a:rPr sz="2400" spc="-20" dirty="0"/>
              <a:t> </a:t>
            </a:r>
            <a:r>
              <a:rPr sz="2400" spc="-10" dirty="0"/>
              <a:t>line.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7583" y="566927"/>
            <a:ext cx="6199632" cy="24563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02994" y="3146882"/>
            <a:ext cx="80867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Q.17]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Identify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contributing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highest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revenue.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67583" y="3736847"/>
            <a:ext cx="5876544" cy="19895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6369" y="125933"/>
            <a:ext cx="90563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Q.18]</a:t>
            </a:r>
            <a:r>
              <a:rPr sz="2400" spc="-15" dirty="0"/>
              <a:t> </a:t>
            </a:r>
            <a:r>
              <a:rPr sz="2400" dirty="0"/>
              <a:t>Count</a:t>
            </a:r>
            <a:r>
              <a:rPr sz="2400" spc="-35" dirty="0"/>
              <a:t> </a:t>
            </a:r>
            <a:r>
              <a:rPr sz="2400" dirty="0"/>
              <a:t>the</a:t>
            </a:r>
            <a:r>
              <a:rPr sz="2400" spc="-25" dirty="0"/>
              <a:t> </a:t>
            </a:r>
            <a:r>
              <a:rPr sz="2400" dirty="0"/>
              <a:t>sales</a:t>
            </a:r>
            <a:r>
              <a:rPr sz="2400" spc="-20" dirty="0"/>
              <a:t> </a:t>
            </a:r>
            <a:r>
              <a:rPr sz="2400" dirty="0"/>
              <a:t>occurrences</a:t>
            </a:r>
            <a:r>
              <a:rPr sz="2400" spc="30" dirty="0"/>
              <a:t> </a:t>
            </a:r>
            <a:r>
              <a:rPr sz="2400" dirty="0"/>
              <a:t>for</a:t>
            </a:r>
            <a:r>
              <a:rPr sz="2400" spc="-10" dirty="0"/>
              <a:t> </a:t>
            </a:r>
            <a:r>
              <a:rPr sz="2400" dirty="0"/>
              <a:t>each time</a:t>
            </a:r>
            <a:r>
              <a:rPr sz="2400" spc="-50" dirty="0"/>
              <a:t> </a:t>
            </a:r>
            <a:r>
              <a:rPr sz="2400" dirty="0"/>
              <a:t>of</a:t>
            </a:r>
            <a:r>
              <a:rPr sz="2400" spc="-25" dirty="0"/>
              <a:t> </a:t>
            </a:r>
            <a:r>
              <a:rPr sz="2400" dirty="0"/>
              <a:t>day</a:t>
            </a:r>
            <a:r>
              <a:rPr sz="2400" spc="-25" dirty="0"/>
              <a:t> </a:t>
            </a:r>
            <a:r>
              <a:rPr sz="2400" dirty="0"/>
              <a:t>on</a:t>
            </a:r>
            <a:r>
              <a:rPr sz="2400" spc="-15" dirty="0"/>
              <a:t> </a:t>
            </a:r>
            <a:r>
              <a:rPr sz="2400" dirty="0"/>
              <a:t>every</a:t>
            </a:r>
            <a:r>
              <a:rPr sz="2400" spc="5" dirty="0"/>
              <a:t> </a:t>
            </a:r>
            <a:r>
              <a:rPr sz="2400" spc="-10" dirty="0"/>
              <a:t>weekday.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6360" y="609600"/>
            <a:ext cx="9421368" cy="52760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8975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Q.19]</a:t>
            </a:r>
            <a:r>
              <a:rPr sz="2400" spc="-20" dirty="0"/>
              <a:t> </a:t>
            </a:r>
            <a:r>
              <a:rPr sz="2400" dirty="0"/>
              <a:t>Determine</a:t>
            </a:r>
            <a:r>
              <a:rPr sz="2400" spc="-25" dirty="0"/>
              <a:t> </a:t>
            </a:r>
            <a:r>
              <a:rPr sz="2400" dirty="0"/>
              <a:t>city</a:t>
            </a:r>
            <a:r>
              <a:rPr sz="2400" spc="-15" dirty="0"/>
              <a:t> </a:t>
            </a:r>
            <a:r>
              <a:rPr sz="2400" dirty="0"/>
              <a:t>with</a:t>
            </a:r>
            <a:r>
              <a:rPr sz="2400" spc="-35" dirty="0"/>
              <a:t> </a:t>
            </a:r>
            <a:r>
              <a:rPr sz="2400" dirty="0"/>
              <a:t>highest</a:t>
            </a:r>
            <a:r>
              <a:rPr sz="2400" spc="-30" dirty="0"/>
              <a:t> </a:t>
            </a:r>
            <a:r>
              <a:rPr sz="2400" spc="-215" dirty="0"/>
              <a:t>VAT</a:t>
            </a:r>
            <a:r>
              <a:rPr sz="2400" spc="-35" dirty="0"/>
              <a:t> </a:t>
            </a:r>
            <a:r>
              <a:rPr sz="2400" spc="-10" dirty="0"/>
              <a:t>percentage.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6248" y="420623"/>
            <a:ext cx="5708904" cy="21450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02994" y="2605481"/>
            <a:ext cx="79578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Q.20]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Identify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highest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15" dirty="0">
                <a:latin typeface="Times New Roman"/>
                <a:cs typeface="Times New Roman"/>
              </a:rPr>
              <a:t>VAT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payments.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46248" y="3066288"/>
            <a:ext cx="6345936" cy="19232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558" rIns="0" bIns="0" rtlCol="0">
            <a:spAutoFit/>
          </a:bodyPr>
          <a:lstStyle/>
          <a:p>
            <a:pPr marL="688975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Q.21]</a:t>
            </a:r>
            <a:r>
              <a:rPr sz="2400" spc="-50" dirty="0"/>
              <a:t> </a:t>
            </a:r>
            <a:r>
              <a:rPr sz="2400" dirty="0"/>
              <a:t>What</a:t>
            </a:r>
            <a:r>
              <a:rPr sz="2400" spc="-35" dirty="0"/>
              <a:t> </a:t>
            </a:r>
            <a:r>
              <a:rPr sz="2400" dirty="0"/>
              <a:t>is</a:t>
            </a:r>
            <a:r>
              <a:rPr sz="2400" spc="-15" dirty="0"/>
              <a:t> </a:t>
            </a:r>
            <a:r>
              <a:rPr sz="2400" dirty="0"/>
              <a:t>the</a:t>
            </a:r>
            <a:r>
              <a:rPr sz="2400" spc="-25" dirty="0"/>
              <a:t> </a:t>
            </a:r>
            <a:r>
              <a:rPr sz="2400" dirty="0"/>
              <a:t>count</a:t>
            </a:r>
            <a:r>
              <a:rPr sz="2400" spc="-35" dirty="0"/>
              <a:t> </a:t>
            </a:r>
            <a:r>
              <a:rPr sz="2400" dirty="0"/>
              <a:t>of</a:t>
            </a:r>
            <a:r>
              <a:rPr sz="2400" spc="-5" dirty="0"/>
              <a:t> </a:t>
            </a:r>
            <a:r>
              <a:rPr sz="2400" dirty="0"/>
              <a:t>distinct</a:t>
            </a:r>
            <a:r>
              <a:rPr sz="2400" spc="-40" dirty="0"/>
              <a:t> </a:t>
            </a:r>
            <a:r>
              <a:rPr sz="2400" dirty="0"/>
              <a:t>payment</a:t>
            </a:r>
            <a:r>
              <a:rPr sz="2400" spc="30" dirty="0"/>
              <a:t> </a:t>
            </a:r>
            <a:r>
              <a:rPr sz="2400" dirty="0"/>
              <a:t>methods</a:t>
            </a:r>
            <a:r>
              <a:rPr sz="2400" spc="-15" dirty="0"/>
              <a:t> </a:t>
            </a:r>
            <a:r>
              <a:rPr sz="2400" dirty="0"/>
              <a:t>in</a:t>
            </a:r>
            <a:r>
              <a:rPr sz="2400" spc="-40" dirty="0"/>
              <a:t> </a:t>
            </a:r>
            <a:r>
              <a:rPr sz="2400" dirty="0"/>
              <a:t>the</a:t>
            </a:r>
            <a:r>
              <a:rPr sz="2400" spc="-15" dirty="0"/>
              <a:t> </a:t>
            </a:r>
            <a:r>
              <a:rPr sz="2400" spc="-10" dirty="0"/>
              <a:t>dataset?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6544" y="832103"/>
            <a:ext cx="7696200" cy="12009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02994" y="2076069"/>
            <a:ext cx="7064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Q.22]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Examine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distribution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gender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within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 </a:t>
            </a:r>
            <a:r>
              <a:rPr sz="2400" spc="-10" dirty="0">
                <a:latin typeface="Times New Roman"/>
                <a:cs typeface="Times New Roman"/>
              </a:rPr>
              <a:t>branch.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255" y="2773679"/>
            <a:ext cx="5733288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9082" rIns="0" bIns="0" rtlCol="0">
            <a:spAutoFit/>
          </a:bodyPr>
          <a:lstStyle/>
          <a:p>
            <a:pPr marL="8128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Q.23]</a:t>
            </a:r>
            <a:r>
              <a:rPr sz="2400" spc="-35" dirty="0"/>
              <a:t> </a:t>
            </a:r>
            <a:r>
              <a:rPr sz="2400" dirty="0"/>
              <a:t>Determine</a:t>
            </a:r>
            <a:r>
              <a:rPr sz="2400" spc="-50" dirty="0"/>
              <a:t> </a:t>
            </a:r>
            <a:r>
              <a:rPr sz="2400" dirty="0"/>
              <a:t>predominant</a:t>
            </a:r>
            <a:r>
              <a:rPr sz="2400" spc="-35" dirty="0"/>
              <a:t> </a:t>
            </a:r>
            <a:r>
              <a:rPr sz="2400" dirty="0"/>
              <a:t>gender</a:t>
            </a:r>
            <a:r>
              <a:rPr sz="2400" spc="-5" dirty="0"/>
              <a:t> </a:t>
            </a:r>
            <a:r>
              <a:rPr sz="2400" dirty="0"/>
              <a:t>among</a:t>
            </a:r>
            <a:r>
              <a:rPr sz="2400" spc="-40" dirty="0"/>
              <a:t> </a:t>
            </a:r>
            <a:r>
              <a:rPr sz="2400" spc="-10" dirty="0"/>
              <a:t>customer.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2176" y="518159"/>
            <a:ext cx="5718048" cy="18592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27073" y="2506802"/>
            <a:ext cx="82518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Q.24]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Identify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week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highest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average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ratings.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32176" y="3182111"/>
            <a:ext cx="5849112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Q.25]</a:t>
            </a:r>
            <a:r>
              <a:rPr sz="2400" spc="-20" dirty="0"/>
              <a:t> </a:t>
            </a:r>
            <a:r>
              <a:rPr sz="2400" dirty="0"/>
              <a:t>Identify</a:t>
            </a:r>
            <a:r>
              <a:rPr sz="2400" spc="25" dirty="0"/>
              <a:t> </a:t>
            </a:r>
            <a:r>
              <a:rPr sz="2400" dirty="0"/>
              <a:t>the</a:t>
            </a:r>
            <a:r>
              <a:rPr sz="2400" spc="-25" dirty="0"/>
              <a:t> </a:t>
            </a:r>
            <a:r>
              <a:rPr sz="2400" dirty="0"/>
              <a:t>time</a:t>
            </a:r>
            <a:r>
              <a:rPr sz="2400" spc="-40" dirty="0"/>
              <a:t> </a:t>
            </a:r>
            <a:r>
              <a:rPr sz="2400" dirty="0"/>
              <a:t>of</a:t>
            </a:r>
            <a:r>
              <a:rPr sz="2400" spc="-25" dirty="0"/>
              <a:t> </a:t>
            </a:r>
            <a:r>
              <a:rPr sz="2400" dirty="0"/>
              <a:t>day</a:t>
            </a:r>
            <a:r>
              <a:rPr sz="2400" spc="-20" dirty="0"/>
              <a:t> </a:t>
            </a:r>
            <a:r>
              <a:rPr sz="2400" dirty="0"/>
              <a:t>when</a:t>
            </a:r>
            <a:r>
              <a:rPr sz="2400" spc="5" dirty="0"/>
              <a:t> </a:t>
            </a:r>
            <a:r>
              <a:rPr sz="2400" dirty="0"/>
              <a:t>customer</a:t>
            </a:r>
            <a:r>
              <a:rPr sz="2400" spc="-25" dirty="0"/>
              <a:t> </a:t>
            </a:r>
            <a:r>
              <a:rPr sz="2400" dirty="0"/>
              <a:t>provide</a:t>
            </a:r>
            <a:r>
              <a:rPr sz="2400" spc="-25" dirty="0"/>
              <a:t> </a:t>
            </a:r>
            <a:r>
              <a:rPr sz="2400" dirty="0"/>
              <a:t>most</a:t>
            </a:r>
            <a:r>
              <a:rPr sz="2400" spc="-5" dirty="0"/>
              <a:t> </a:t>
            </a:r>
            <a:r>
              <a:rPr sz="2400" spc="-10" dirty="0"/>
              <a:t>ratings.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0904" y="569976"/>
            <a:ext cx="6412991" cy="21153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02994" y="2824733"/>
            <a:ext cx="932815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latin typeface="Times New Roman"/>
                <a:cs typeface="Times New Roman"/>
              </a:rPr>
              <a:t>Q.26]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Determine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 day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highest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customer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ratings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each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branch.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8719" y="3322320"/>
            <a:ext cx="10061448" cy="30388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9263" rIns="0" bIns="0" rtlCol="0">
            <a:spAutoFit/>
          </a:bodyPr>
          <a:lstStyle/>
          <a:p>
            <a:pPr marL="412750">
              <a:lnSpc>
                <a:spcPct val="100000"/>
              </a:lnSpc>
              <a:spcBef>
                <a:spcPts val="110"/>
              </a:spcBef>
            </a:pPr>
            <a:r>
              <a:rPr dirty="0"/>
              <a:t>Q.27].</a:t>
            </a:r>
            <a:r>
              <a:rPr spc="-35" dirty="0"/>
              <a:t> </a:t>
            </a:r>
            <a:r>
              <a:rPr dirty="0"/>
              <a:t>Determine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day</a:t>
            </a:r>
            <a:r>
              <a:rPr spc="-25" dirty="0"/>
              <a:t> </a:t>
            </a:r>
            <a:r>
              <a:rPr dirty="0"/>
              <a:t>of the</a:t>
            </a:r>
            <a:r>
              <a:rPr spc="-25" dirty="0"/>
              <a:t> </a:t>
            </a:r>
            <a:r>
              <a:rPr dirty="0"/>
              <a:t>week</a:t>
            </a:r>
            <a:r>
              <a:rPr spc="-25" dirty="0"/>
              <a:t> </a:t>
            </a:r>
            <a:r>
              <a:rPr dirty="0"/>
              <a:t>with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highest</a:t>
            </a:r>
            <a:r>
              <a:rPr spc="-45" dirty="0"/>
              <a:t> </a:t>
            </a:r>
            <a:r>
              <a:rPr dirty="0"/>
              <a:t>average</a:t>
            </a:r>
            <a:r>
              <a:rPr spc="-10" dirty="0"/>
              <a:t> </a:t>
            </a:r>
            <a:r>
              <a:rPr dirty="0"/>
              <a:t>ratings</a:t>
            </a:r>
            <a:r>
              <a:rPr spc="-50" dirty="0"/>
              <a:t> </a:t>
            </a:r>
            <a:r>
              <a:rPr dirty="0"/>
              <a:t>for each</a:t>
            </a:r>
            <a:r>
              <a:rPr spc="-45" dirty="0"/>
              <a:t> </a:t>
            </a:r>
            <a:r>
              <a:rPr spc="-10" dirty="0"/>
              <a:t>branch.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2791" y="704087"/>
            <a:ext cx="10186416" cy="382984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52290" y="92201"/>
            <a:ext cx="3715385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spc="475" dirty="0">
                <a:latin typeface="Cambria"/>
                <a:cs typeface="Cambria"/>
              </a:rPr>
              <a:t>Key</a:t>
            </a:r>
            <a:r>
              <a:rPr sz="4400" spc="140" dirty="0">
                <a:latin typeface="Cambria"/>
                <a:cs typeface="Cambria"/>
              </a:rPr>
              <a:t> </a:t>
            </a:r>
            <a:r>
              <a:rPr sz="4400" spc="360" dirty="0">
                <a:latin typeface="Cambria"/>
                <a:cs typeface="Cambria"/>
              </a:rPr>
              <a:t>Findings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02994" y="883792"/>
            <a:ext cx="8926830" cy="54870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400" spc="225" dirty="0">
                <a:latin typeface="Cambria"/>
                <a:cs typeface="Cambria"/>
              </a:rPr>
              <a:t>Product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Analysis:</a:t>
            </a:r>
            <a:endParaRPr sz="240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Highest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Sales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Line: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Electronic</a:t>
            </a:r>
            <a:r>
              <a:rPr sz="2400" b="1" spc="-1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Accessories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(Units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Sold:971)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Highest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Revenue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Line: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Food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Beverages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($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56144.96)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Lowest Sales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Line: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Health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Beauty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(Unit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Sold: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854)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Lowest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Revenue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Line: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Health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Beauty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($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49193.84)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5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210" dirty="0">
                <a:latin typeface="Cambria"/>
                <a:cs typeface="Cambria"/>
              </a:rPr>
              <a:t>Sales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Analysis:</a:t>
            </a:r>
            <a:endParaRPr sz="240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Month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Highest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Revenue: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January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($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116292.11)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City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Branch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Highest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Revenue: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Naypyitaw[C]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($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110568.86)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Month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Lowest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Revenue: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February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($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97219.58)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City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Branch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Lowest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Revenue: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Mandalay[B]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($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106198.00)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Peak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Sales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Day: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Afternoon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Peak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Sales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Week: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Saturday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2994" y="341310"/>
            <a:ext cx="8867775" cy="461200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400" spc="210" dirty="0">
                <a:latin typeface="Cambria"/>
                <a:cs typeface="Cambria"/>
              </a:rPr>
              <a:t>Customer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Analysis:</a:t>
            </a:r>
            <a:endParaRPr sz="240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Most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Predominant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Gender: </a:t>
            </a:r>
            <a:r>
              <a:rPr sz="2400" b="1" spc="-10" dirty="0">
                <a:latin typeface="Times New Roman"/>
                <a:cs typeface="Times New Roman"/>
              </a:rPr>
              <a:t>Female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Most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Predominant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Type: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Member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Highest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Revenue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Gender: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Female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($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167883.26)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Highest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Revenue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Type: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Member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($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164223.81)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Most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Popular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(Male):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Health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Beauty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Most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Popular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(Female):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Fashion</a:t>
            </a:r>
            <a:r>
              <a:rPr sz="2400" b="1" spc="-1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Accessories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Distribution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Members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Gender: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Male(240)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Female(261)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Sales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Male: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2641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units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Sales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Female: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2869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units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2288" y="914400"/>
            <a:ext cx="8903208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1102</Words>
  <Application>Microsoft Office PowerPoint</Application>
  <PresentationFormat>Widescreen</PresentationFormat>
  <Paragraphs>126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Arial MT</vt:lpstr>
      <vt:lpstr>Cambria</vt:lpstr>
      <vt:lpstr>Times New Roman</vt:lpstr>
      <vt:lpstr>Office Theme</vt:lpstr>
      <vt:lpstr>PowerPoint Presentation</vt:lpstr>
      <vt:lpstr>Overview Of Amazon Sales Data</vt:lpstr>
      <vt:lpstr>Preview of Amazon Sales Data</vt:lpstr>
      <vt:lpstr>Data Wrangling</vt:lpstr>
      <vt:lpstr>PowerPoint Presentation</vt:lpstr>
      <vt:lpstr>Feature Engineering</vt:lpstr>
      <vt:lpstr>Exploratory Data Analysis</vt:lpstr>
      <vt:lpstr>Step [2]: Checking size of table, count of null values, unique values in columns.</vt:lpstr>
      <vt:lpstr>Step [3]: Checking the unique values in each categorical column. There are 10 categorical   columns   [invoice_id,  branch,  city,   customer_type,   gender, product_line, payment_method, time_of_day, day_name, month_name]</vt:lpstr>
      <vt:lpstr>Answering Business Questions</vt:lpstr>
      <vt:lpstr>Q.4] Which payment method occurs most frequently?</vt:lpstr>
      <vt:lpstr>Q.6] How much revenue is generated each month?</vt:lpstr>
      <vt:lpstr>Q.8] In which month cost of goods sold reach its peak?</vt:lpstr>
      <vt:lpstr>Q.10] Which product line incurred the highest value added tax?</vt:lpstr>
      <vt:lpstr>PowerPoint Presentation</vt:lpstr>
      <vt:lpstr>Q.14] Which product line is most frequently associated with each gender?</vt:lpstr>
      <vt:lpstr>Q.16] Calculate the average rating for each product line.</vt:lpstr>
      <vt:lpstr>Q.18] Count the sales occurrences for each time of day on every weekday.</vt:lpstr>
      <vt:lpstr>Q.19] Determine city with highest VAT percentage.</vt:lpstr>
      <vt:lpstr>Q.21] What is the count of distinct payment methods in the dataset?</vt:lpstr>
      <vt:lpstr>Q.23] Determine predominant gender among customer.</vt:lpstr>
      <vt:lpstr>Q.25] Identify the time of day when customer provide most ratings.</vt:lpstr>
      <vt:lpstr>Q.27]. Determine the day of the week with the highest average ratings for each branch.</vt:lpstr>
      <vt:lpstr>Key Findings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ACER</cp:lastModifiedBy>
  <cp:revision>1</cp:revision>
  <dcterms:created xsi:type="dcterms:W3CDTF">2026-01-20T18:03:37Z</dcterms:created>
  <dcterms:modified xsi:type="dcterms:W3CDTF">2026-01-20T18:26:08Z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2024-06-20T00:00:00Z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2026-01-20T00:00:00Z</vt:filetime>
  </property>
  <property fmtid="{D5CDD505-2E9C-101B-9397-08002B2CF9AE}" pid="5" name="Producer">
    <vt:lpwstr>www.ilovepdf.com</vt:lpwstr>
  </property>
</Properties>
</file>